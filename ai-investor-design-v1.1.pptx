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4"/>
          </a:solidFill>
          <a:ln w="12700">
            <a:solidFill>
              <a:srgbClr val="0D0F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3161E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AI投资助手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设计文档 V1.1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75564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量化辅助决策工具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473659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2025年3月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749040" y="1005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343400" y="1005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封面与目录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749040" y="1389888"/>
            <a:ext cx="5029200" cy="0"/>
          </a:xfrm>
          <a:prstGeom prst="line">
            <a:avLst/>
          </a:prstGeom>
          <a:noFill/>
          <a:ln w="5080">
            <a:solidFill>
              <a:srgbClr val="2529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49040" y="153619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43400" y="15361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页面流程图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749040" y="1920240"/>
            <a:ext cx="5029200" cy="0"/>
          </a:xfrm>
          <a:prstGeom prst="line">
            <a:avLst/>
          </a:prstGeom>
          <a:noFill/>
          <a:ln w="5080">
            <a:solidFill>
              <a:srgbClr val="2529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0" y="20665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343400" y="2066544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仪表盘（含组合管理）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749040" y="2450592"/>
            <a:ext cx="5029200" cy="0"/>
          </a:xfrm>
          <a:prstGeom prst="line">
            <a:avLst/>
          </a:prstGeom>
          <a:noFill/>
          <a:ln w="5080">
            <a:solidFill>
              <a:srgbClr val="25293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59689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343400" y="25968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股票详情页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749040" y="2980944"/>
            <a:ext cx="5029200" cy="0"/>
          </a:xfrm>
          <a:prstGeom prst="line">
            <a:avLst/>
          </a:prstGeom>
          <a:noFill/>
          <a:ln w="5080">
            <a:solidFill>
              <a:srgbClr val="2529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49040" y="31272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343400" y="312724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预测准确率页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749040" y="3511296"/>
            <a:ext cx="5029200" cy="0"/>
          </a:xfrm>
          <a:prstGeom prst="line">
            <a:avLst/>
          </a:prstGeom>
          <a:noFill/>
          <a:ln w="5080">
            <a:solidFill>
              <a:srgbClr val="2529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3657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343400" y="3657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登录/注册页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749040" y="4041648"/>
            <a:ext cx="5029200" cy="0"/>
          </a:xfrm>
          <a:prstGeom prst="line">
            <a:avLst/>
          </a:prstGeom>
          <a:noFill/>
          <a:ln w="5080">
            <a:solidFill>
              <a:srgbClr val="252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0" y="418795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343400" y="418795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设计规范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4"/>
          </a:solidFill>
          <a:ln w="12700">
            <a:solidFill>
              <a:srgbClr val="0D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页面流程图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用户操作路径与页面跳转关系（V1.1 删除独立组合页）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2700">
            <a:solidFill>
              <a:srgbClr val="252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1828800" cy="594360"/>
          </a:xfrm>
          <a:prstGeom prst="rect">
            <a:avLst>
              <a:gd name="adj" fmla="val 12308"/>
            </a:avLst>
          </a:prstGeom>
          <a:solidFill>
            <a:srgbClr val="13161E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43584"/>
            <a:ext cx="16824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/login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9184" y="1490472"/>
            <a:ext cx="17190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登录/注册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03120" y="1481328"/>
            <a:ext cx="73152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10" name="Text 8"/>
          <p:cNvSpPr/>
          <p:nvPr/>
        </p:nvSpPr>
        <p:spPr>
          <a:xfrm>
            <a:off x="2103120" y="135331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认证成功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834640" y="1005840"/>
            <a:ext cx="2743200" cy="1005840"/>
          </a:xfrm>
          <a:prstGeom prst="rect">
            <a:avLst>
              <a:gd name="adj" fmla="val 7273"/>
            </a:avLst>
          </a:prstGeom>
          <a:solidFill>
            <a:srgbClr val="13161E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07792" y="1060704"/>
            <a:ext cx="25968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仪表盘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9504" y="1307592"/>
            <a:ext cx="26334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组合管理+股票列表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46120" y="199339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V1.1合并版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871216" y="1060704"/>
            <a:ext cx="2670048" cy="877824"/>
          </a:xfrm>
          <a:prstGeom prst="rect">
            <a:avLst>
              <a:gd name="adj" fmla="val 6250"/>
            </a:avLst>
          </a:prstGeom>
          <a:solidFill>
            <a:srgbClr val="0D0F14"/>
          </a:solidFill>
          <a:ln w="6350">
            <a:solidFill>
              <a:srgbClr val="6366F1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2944368" y="11155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弹窗：新建组合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4133088" y="111556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弹窗：添加股票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2944368" y="15087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确认框：删除组合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133088" y="150876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确认框：移除股票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400800" y="1005840"/>
            <a:ext cx="2286000" cy="594360"/>
          </a:xfrm>
          <a:prstGeom prst="rect">
            <a:avLst>
              <a:gd name="adj" fmla="val 12308"/>
            </a:avLst>
          </a:prstGeom>
          <a:solidFill>
            <a:srgbClr val="13161E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73952" y="1060704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/stock/:mkt/:code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55664" y="130759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详情+K线+评分+预测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577840" y="1298448"/>
            <a:ext cx="82296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5623560" y="117043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点击股票行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400800" y="1600200"/>
            <a:ext cx="-822960" cy="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26" name="Text 24"/>
          <p:cNvSpPr/>
          <p:nvPr/>
        </p:nvSpPr>
        <p:spPr>
          <a:xfrm>
            <a:off x="5623560" y="1472184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返回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0" y="2377440"/>
            <a:ext cx="2286000" cy="594360"/>
          </a:xfrm>
          <a:prstGeom prst="rect">
            <a:avLst>
              <a:gd name="adj" fmla="val 12308"/>
            </a:avLst>
          </a:prstGeom>
          <a:solidFill>
            <a:srgbClr val="13161E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73952" y="2432304"/>
            <a:ext cx="21396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/accuracy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55664" y="2679192"/>
            <a:ext cx="21762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全局准确率+个股明细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46520" y="2953512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V1.1新增：个股明细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2926080"/>
            <a:ext cx="1371600" cy="457200"/>
          </a:xfrm>
          <a:prstGeom prst="rect">
            <a:avLst>
              <a:gd name="adj" fmla="val 12000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9535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侧边栏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47472" y="3218688"/>
            <a:ext cx="12252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⊞ 仪表盘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47472" y="3465576"/>
            <a:ext cx="122529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准确率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1645920" y="3310128"/>
            <a:ext cx="2103120" cy="-128016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645920" y="3566160"/>
            <a:ext cx="4800600" cy="-822960"/>
          </a:xfrm>
          <a:prstGeom prst="line">
            <a:avLst/>
          </a:prstGeom>
          <a:noFill/>
          <a:ln w="10160">
            <a:solidFill>
              <a:srgbClr val="64748B"/>
            </a:solidFill>
            <a:prstDash val="solid"/>
            <a:tailEnd type="arrow"/>
          </a:ln>
        </p:spPr>
      </p:sp>
      <p:sp>
        <p:nvSpPr>
          <p:cNvPr id="37" name="Text 35"/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注：V1.1 删除独立的「我的组合」页，组合管理功能内嵌至仪表盘，侧边栏从3项缩减为2项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4"/>
          </a:solidFill>
          <a:ln w="12700">
            <a:solidFill>
              <a:srgbClr val="0D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仪表盘（含组合管理）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路由：/ | V1.1 组合增删改全在本页完成，不跳转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2700">
            <a:solidFill>
              <a:srgbClr val="252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078992" cy="3931920"/>
          </a:xfrm>
          <a:prstGeom prst="rect">
            <a:avLst>
              <a:gd name="adj" fmla="val 6780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6984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侧边栏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987552" cy="274320"/>
          </a:xfrm>
          <a:prstGeom prst="rect">
            <a:avLst>
              <a:gd name="adj" fmla="val 16667"/>
            </a:avLst>
          </a:prstGeom>
          <a:solidFill>
            <a:srgbClr val="6366F1"/>
          </a:solidFill>
          <a:ln w="508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0817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⊞ 仪表盘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783080"/>
            <a:ext cx="987552" cy="274320"/>
          </a:xfrm>
          <a:prstGeom prst="rect">
            <a:avLst>
              <a:gd name="adj" fmla="val 16667"/>
            </a:avLst>
          </a:prstGeom>
          <a:solidFill>
            <a:srgbClr val="1A1E28"/>
          </a:solidFill>
          <a:ln w="5080">
            <a:solidFill>
              <a:srgbClr val="2529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1819656"/>
            <a:ext cx="932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 准确率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508760" y="1005840"/>
            <a:ext cx="7315200" cy="365760"/>
          </a:xfrm>
          <a:prstGeom prst="rect">
            <a:avLst>
              <a:gd name="adj" fmla="val 20000"/>
            </a:avLst>
          </a:prstGeom>
          <a:solidFill>
            <a:srgbClr val="1A1E28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10515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上证指数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468880" y="10332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3,282.16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20440" y="10515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+0.87%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23360" y="10515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沪深300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00600" y="10332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3,821.44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52160" y="10515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+0.94%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105156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深证成指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32320" y="10332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10,431.57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83880" y="105156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+1.23%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508760" y="1499616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组合标签（点名称切换，点×删除）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08760" y="1700784"/>
            <a:ext cx="1188720" cy="274320"/>
          </a:xfrm>
          <a:prstGeom prst="rect">
            <a:avLst>
              <a:gd name="adj" fmla="val 20000"/>
            </a:avLst>
          </a:prstGeom>
          <a:solidFill>
            <a:srgbClr val="6366F1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554480" y="17465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我的A股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50592" y="173736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432304" y="1719072"/>
            <a:ext cx="0" cy="256032"/>
          </a:xfrm>
          <a:prstGeom prst="line">
            <a:avLst/>
          </a:prstGeom>
          <a:noFill/>
          <a:ln w="5080">
            <a:solidFill>
              <a:srgbClr val="25293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862072" y="1700784"/>
            <a:ext cx="1188720" cy="274320"/>
          </a:xfrm>
          <a:prstGeom prst="rect">
            <a:avLst>
              <a:gd name="adj" fmla="val 20000"/>
            </a:avLst>
          </a:prstGeom>
          <a:solidFill>
            <a:srgbClr val="1A1E28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07792" y="17465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妻子A股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803904" y="173736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85616" y="1719072"/>
            <a:ext cx="0" cy="256032"/>
          </a:xfrm>
          <a:prstGeom prst="line">
            <a:avLst/>
          </a:prstGeom>
          <a:noFill/>
          <a:ln w="5080">
            <a:solidFill>
              <a:srgbClr val="25293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15384" y="1700784"/>
            <a:ext cx="1188720" cy="274320"/>
          </a:xfrm>
          <a:prstGeom prst="rect">
            <a:avLst>
              <a:gd name="adj" fmla="val 20000"/>
            </a:avLst>
          </a:prstGeom>
          <a:solidFill>
            <a:srgbClr val="1A1E28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61104" y="1746504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港股通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157216" y="1737360"/>
            <a:ext cx="20116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138928" y="1719072"/>
            <a:ext cx="0" cy="256032"/>
          </a:xfrm>
          <a:prstGeom prst="line">
            <a:avLst/>
          </a:prstGeom>
          <a:noFill/>
          <a:ln w="5080">
            <a:solidFill>
              <a:srgbClr val="25293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080760" y="1700784"/>
            <a:ext cx="1170432" cy="274320"/>
          </a:xfrm>
          <a:prstGeom prst="rect">
            <a:avLst>
              <a:gd name="adj" fmla="val 20000"/>
            </a:avLst>
          </a:prstGeom>
          <a:solidFill>
            <a:srgbClr val="0D0F14"/>
          </a:solidFill>
          <a:ln w="6350">
            <a:solidFill>
              <a:srgbClr val="6366F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746504"/>
            <a:ext cx="1078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添加股票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360920" y="1700784"/>
            <a:ext cx="1115568" cy="274320"/>
          </a:xfrm>
          <a:prstGeom prst="rect">
            <a:avLst>
              <a:gd name="adj" fmla="val 20000"/>
            </a:avLst>
          </a:prstGeom>
          <a:solidFill>
            <a:srgbClr val="0D0F14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06640" y="1746504"/>
            <a:ext cx="10241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新建组合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508760" y="1920240"/>
            <a:ext cx="7315200" cy="2651760"/>
          </a:xfrm>
          <a:prstGeom prst="rect">
            <a:avLst>
              <a:gd name="adj" fmla="val 2759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08760" y="1920240"/>
            <a:ext cx="7315200" cy="256032"/>
          </a:xfrm>
          <a:prstGeom prst="rect">
            <a:avLst>
              <a:gd name="adj" fmla="val 28571"/>
            </a:avLst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563624" y="1956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020824" y="1956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股票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980944" y="1956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712464" y="1956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最新价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489704" y="1956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涨跌幅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221224" y="1956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今日信号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09944" y="1956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持仓盈亏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552944" y="19568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1563624" y="2295144"/>
            <a:ext cx="402336" cy="402336"/>
          </a:xfrm>
          <a:prstGeom prst="ellipse">
            <a:avLst/>
          </a:prstGeom>
          <a:solidFill>
            <a:srgbClr val="1A1E2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63624" y="2386584"/>
            <a:ext cx="402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020824" y="2276856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贵州茅台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2020824" y="24963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600519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980944" y="2368296"/>
            <a:ext cx="822960" cy="201168"/>
          </a:xfrm>
          <a:prstGeom prst="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80944" y="2386584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A股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3712464" y="233172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1758.50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489704" y="23317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+1.23%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221224" y="2331720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偏多★★★★☆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409944" y="2331720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+12.3%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552944" y="2313432"/>
            <a:ext cx="475488" cy="237744"/>
          </a:xfrm>
          <a:prstGeom prst="rect">
            <a:avLst>
              <a:gd name="adj" fmla="val 15385"/>
            </a:avLst>
          </a:prstGeom>
          <a:solidFill>
            <a:srgbClr val="1A1E28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571232" y="2350008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8074152" y="2313432"/>
            <a:ext cx="475488" cy="237744"/>
          </a:xfrm>
          <a:prstGeom prst="rect">
            <a:avLst>
              <a:gd name="adj" fmla="val 15385"/>
            </a:avLst>
          </a:prstGeom>
          <a:solidFill>
            <a:srgbClr val="1A1E28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92440" y="2350008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移除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1600200" y="2752344"/>
            <a:ext cx="7132320" cy="0"/>
          </a:xfrm>
          <a:prstGeom prst="line">
            <a:avLst/>
          </a:prstGeom>
          <a:noFill/>
          <a:ln w="3810">
            <a:solidFill>
              <a:srgbClr val="25293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563624" y="2862072"/>
            <a:ext cx="402336" cy="402336"/>
          </a:xfrm>
          <a:prstGeom prst="ellipse">
            <a:avLst/>
          </a:prstGeom>
          <a:solidFill>
            <a:srgbClr val="1A1E2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563624" y="2953512"/>
            <a:ext cx="402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020824" y="2843784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五粮液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2020824" y="30632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000858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980944" y="2935224"/>
            <a:ext cx="822960" cy="201168"/>
          </a:xfrm>
          <a:prstGeom prst="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80944" y="2953512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A股</a:t>
            </a:r>
            <a:endParaRPr lang="en-US" sz="800" dirty="0"/>
          </a:p>
        </p:txBody>
      </p:sp>
      <p:sp>
        <p:nvSpPr>
          <p:cNvPr id="70" name="Text 68"/>
          <p:cNvSpPr/>
          <p:nvPr/>
        </p:nvSpPr>
        <p:spPr>
          <a:xfrm>
            <a:off x="3712464" y="289864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135.20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4489704" y="289864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-0.45%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5221224" y="2898648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中性★★★☆☆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6409944" y="2898648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-3.1%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7552944" y="2880360"/>
            <a:ext cx="475488" cy="237744"/>
          </a:xfrm>
          <a:prstGeom prst="rect">
            <a:avLst>
              <a:gd name="adj" fmla="val 15385"/>
            </a:avLst>
          </a:prstGeom>
          <a:solidFill>
            <a:srgbClr val="1A1E28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71232" y="2916936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8074152" y="2880360"/>
            <a:ext cx="475488" cy="237744"/>
          </a:xfrm>
          <a:prstGeom prst="rect">
            <a:avLst>
              <a:gd name="adj" fmla="val 15385"/>
            </a:avLst>
          </a:prstGeom>
          <a:solidFill>
            <a:srgbClr val="1A1E28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092440" y="2916936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移除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600200" y="3319272"/>
            <a:ext cx="7132320" cy="0"/>
          </a:xfrm>
          <a:prstGeom prst="line">
            <a:avLst/>
          </a:prstGeom>
          <a:noFill/>
          <a:ln w="3810">
            <a:solidFill>
              <a:srgbClr val="25293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563624" y="3429000"/>
            <a:ext cx="402336" cy="402336"/>
          </a:xfrm>
          <a:prstGeom prst="ellipse">
            <a:avLst/>
          </a:prstGeom>
          <a:solidFill>
            <a:srgbClr val="1A1E2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563624" y="3520440"/>
            <a:ext cx="402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2020824" y="341071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宁德时代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2020824" y="363016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300750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2980944" y="3502152"/>
            <a:ext cx="822960" cy="201168"/>
          </a:xfrm>
          <a:prstGeom prst="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2980944" y="3520440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A股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3712464" y="3465576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218.60</a:t>
            </a:r>
            <a:endParaRPr lang="en-US" sz="1200" dirty="0"/>
          </a:p>
        </p:txBody>
      </p:sp>
      <p:sp>
        <p:nvSpPr>
          <p:cNvPr id="86" name="Text 84"/>
          <p:cNvSpPr/>
          <p:nvPr/>
        </p:nvSpPr>
        <p:spPr>
          <a:xfrm>
            <a:off x="4489704" y="34655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+2.87%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5221224" y="3465576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偏多★★★★☆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6409944" y="3465576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+8.7%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552944" y="3447288"/>
            <a:ext cx="475488" cy="237744"/>
          </a:xfrm>
          <a:prstGeom prst="rect">
            <a:avLst>
              <a:gd name="adj" fmla="val 15385"/>
            </a:avLst>
          </a:prstGeom>
          <a:solidFill>
            <a:srgbClr val="1A1E28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571232" y="3483864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8074152" y="3447288"/>
            <a:ext cx="475488" cy="237744"/>
          </a:xfrm>
          <a:prstGeom prst="rect">
            <a:avLst>
              <a:gd name="adj" fmla="val 15385"/>
            </a:avLst>
          </a:prstGeom>
          <a:solidFill>
            <a:srgbClr val="1A1E28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92440" y="3483864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移除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1600200" y="3886200"/>
            <a:ext cx="7132320" cy="0"/>
          </a:xfrm>
          <a:prstGeom prst="line">
            <a:avLst/>
          </a:prstGeom>
          <a:noFill/>
          <a:ln w="3810">
            <a:solidFill>
              <a:srgbClr val="25293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563624" y="3995928"/>
            <a:ext cx="402336" cy="402336"/>
          </a:xfrm>
          <a:prstGeom prst="ellipse">
            <a:avLst/>
          </a:prstGeom>
          <a:solidFill>
            <a:srgbClr val="1A1E28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563624" y="4087368"/>
            <a:ext cx="402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100" dirty="0"/>
          </a:p>
        </p:txBody>
      </p:sp>
      <p:sp>
        <p:nvSpPr>
          <p:cNvPr id="96" name="Text 94"/>
          <p:cNvSpPr/>
          <p:nvPr/>
        </p:nvSpPr>
        <p:spPr>
          <a:xfrm>
            <a:off x="2020824" y="3977640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平安银行</a:t>
            </a:r>
            <a:endParaRPr lang="en-US" sz="1000" dirty="0"/>
          </a:p>
        </p:txBody>
      </p:sp>
      <p:sp>
        <p:nvSpPr>
          <p:cNvPr id="97" name="Text 95"/>
          <p:cNvSpPr/>
          <p:nvPr/>
        </p:nvSpPr>
        <p:spPr>
          <a:xfrm>
            <a:off x="2020824" y="41970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000001</a:t>
            </a:r>
            <a:endParaRPr lang="en-US" sz="800" dirty="0"/>
          </a:p>
        </p:txBody>
      </p:sp>
      <p:sp>
        <p:nvSpPr>
          <p:cNvPr id="98" name="Shape 96"/>
          <p:cNvSpPr/>
          <p:nvPr/>
        </p:nvSpPr>
        <p:spPr>
          <a:xfrm>
            <a:off x="2980944" y="4069080"/>
            <a:ext cx="822960" cy="201168"/>
          </a:xfrm>
          <a:prstGeom prst="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980944" y="408736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A股</a:t>
            </a:r>
            <a:endParaRPr lang="en-US" sz="800" dirty="0"/>
          </a:p>
        </p:txBody>
      </p:sp>
      <p:sp>
        <p:nvSpPr>
          <p:cNvPr id="100" name="Text 98"/>
          <p:cNvSpPr/>
          <p:nvPr/>
        </p:nvSpPr>
        <p:spPr>
          <a:xfrm>
            <a:off x="3712464" y="4032504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11.02</a:t>
            </a:r>
            <a:endParaRPr lang="en-US" sz="1200" dirty="0"/>
          </a:p>
        </p:txBody>
      </p:sp>
      <p:sp>
        <p:nvSpPr>
          <p:cNvPr id="101" name="Text 99"/>
          <p:cNvSpPr/>
          <p:nvPr/>
        </p:nvSpPr>
        <p:spPr>
          <a:xfrm>
            <a:off x="4489704" y="403250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-1.25%</a:t>
            </a:r>
            <a:endParaRPr lang="en-US" sz="1100" dirty="0"/>
          </a:p>
        </p:txBody>
      </p:sp>
      <p:sp>
        <p:nvSpPr>
          <p:cNvPr id="102" name="Text 100"/>
          <p:cNvSpPr/>
          <p:nvPr/>
        </p:nvSpPr>
        <p:spPr>
          <a:xfrm>
            <a:off x="5221224" y="4032504"/>
            <a:ext cx="1188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偏空★★★☆☆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6409944" y="4032504"/>
            <a:ext cx="731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-5.2%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552944" y="4014216"/>
            <a:ext cx="475488" cy="237744"/>
          </a:xfrm>
          <a:prstGeom prst="rect">
            <a:avLst>
              <a:gd name="adj" fmla="val 15385"/>
            </a:avLst>
          </a:prstGeom>
          <a:solidFill>
            <a:srgbClr val="1A1E28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571232" y="4050792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详情</a:t>
            </a:r>
            <a:endParaRPr lang="en-US" sz="800" dirty="0"/>
          </a:p>
        </p:txBody>
      </p:sp>
      <p:sp>
        <p:nvSpPr>
          <p:cNvPr id="106" name="Shape 104"/>
          <p:cNvSpPr/>
          <p:nvPr/>
        </p:nvSpPr>
        <p:spPr>
          <a:xfrm>
            <a:off x="8074152" y="4014216"/>
            <a:ext cx="475488" cy="237744"/>
          </a:xfrm>
          <a:prstGeom prst="rect">
            <a:avLst>
              <a:gd name="adj" fmla="val 15385"/>
            </a:avLst>
          </a:prstGeom>
          <a:solidFill>
            <a:srgbClr val="1A1E28"/>
          </a:solidFill>
          <a:ln w="3810">
            <a:solidFill>
              <a:srgbClr val="EF444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092440" y="4050792"/>
            <a:ext cx="438912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移除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274320" y="46817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点击股票行→详情页 | × 删组合(弹确认) | 移除→弹确认后从列表消失 | 行情延迟3-5分钟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4"/>
          </a:solidFill>
          <a:ln w="12700">
            <a:solidFill>
              <a:srgbClr val="0D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股票详情页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路由：/stock/:market/:code | 点击「← 返回」回仪表盘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2700">
            <a:solidFill>
              <a:srgbClr val="252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685800" cy="256032"/>
          </a:xfrm>
          <a:prstGeom prst="rect">
            <a:avLst>
              <a:gd name="adj" fmla="val 17857"/>
            </a:avLst>
          </a:prstGeom>
          <a:solidFill>
            <a:srgbClr val="0D0F14"/>
          </a:solidFill>
          <a:ln w="5080">
            <a:solidFill>
              <a:srgbClr val="2529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" y="103327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返回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97280" y="9875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宁德时代 (300750)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37160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A股 · 信号仅供参考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772400" y="1005840"/>
            <a:ext cx="1280160" cy="256032"/>
          </a:xfrm>
          <a:prstGeom prst="rect">
            <a:avLst>
              <a:gd name="adj" fmla="val 2142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90688" y="1033272"/>
            <a:ext cx="1243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生成今日预测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371600"/>
            <a:ext cx="5212080" cy="1783080"/>
          </a:xfrm>
          <a:prstGeom prst="rect">
            <a:avLst>
              <a:gd name="adj" fmla="val 4103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444752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近60日收盘价走势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331720"/>
            <a:ext cx="388620" cy="-9144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8660" y="2240280"/>
            <a:ext cx="388620" cy="13716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2377440"/>
            <a:ext cx="388620" cy="-18288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5900" y="2194560"/>
            <a:ext cx="388620" cy="-9144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74520" y="2103120"/>
            <a:ext cx="388620" cy="-4572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63140" y="2057400"/>
            <a:ext cx="388620" cy="13716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51760" y="2194560"/>
            <a:ext cx="388620" cy="-18288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40380" y="2011680"/>
            <a:ext cx="388620" cy="-9144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29000" y="1920240"/>
            <a:ext cx="388620" cy="-4572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17620" y="1874520"/>
            <a:ext cx="388620" cy="9144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206240" y="1965960"/>
            <a:ext cx="388620" cy="-6858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29260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成交量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47472" y="2971800"/>
            <a:ext cx="438912" cy="102979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2971800"/>
            <a:ext cx="438912" cy="106955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89888" y="2971800"/>
            <a:ext cx="438912" cy="135180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11096" y="2971800"/>
            <a:ext cx="438912" cy="169499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432304" y="2971800"/>
            <a:ext cx="438912" cy="139306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53512" y="2971800"/>
            <a:ext cx="438912" cy="122122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0" y="2971800"/>
            <a:ext cx="438912" cy="156309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995928" y="2971800"/>
            <a:ext cx="438912" cy="128901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17136" y="2971800"/>
            <a:ext cx="438912" cy="187954"/>
          </a:xfrm>
          <a:prstGeom prst="rect">
            <a:avLst/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246120"/>
            <a:ext cx="5212080" cy="1554480"/>
          </a:xfrm>
          <a:prstGeom prst="rect">
            <a:avLst>
              <a:gd name="adj" fmla="val 4706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33192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近期预测记录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" y="3593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预测日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786384" y="3593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周期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170432" y="3593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方向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591056" y="3593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上涨概率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2029968" y="3593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预测区间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61488" y="3593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实际结果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529584" y="3593592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是否准确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3794760"/>
            <a:ext cx="5029200" cy="0"/>
          </a:xfrm>
          <a:prstGeom prst="line">
            <a:avLst/>
          </a:prstGeom>
          <a:noFill/>
          <a:ln w="3810">
            <a:solidFill>
              <a:srgbClr val="25293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29184" y="3840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03-28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86384" y="3840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70432" y="3840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偏多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591056" y="3840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029968" y="3840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+0.8~+3.2%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61488" y="3840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待结算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529584" y="38404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365760" y="4096512"/>
            <a:ext cx="5029200" cy="0"/>
          </a:xfrm>
          <a:prstGeom prst="line">
            <a:avLst/>
          </a:prstGeom>
          <a:noFill/>
          <a:ln w="3810">
            <a:solidFill>
              <a:srgbClr val="25293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9184" y="4142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03-25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86384" y="4142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70432" y="4142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偏多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591056" y="4142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2029968" y="4142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+0.6~+2.8%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2761488" y="4142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+1.23%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3529584" y="414223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✓准确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65760" y="4398264"/>
            <a:ext cx="5029200" cy="0"/>
          </a:xfrm>
          <a:prstGeom prst="line">
            <a:avLst/>
          </a:prstGeom>
          <a:noFill/>
          <a:ln w="3810">
            <a:solidFill>
              <a:srgbClr val="25293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9184" y="44439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03-24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86384" y="44439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170432" y="44439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中性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591056" y="44439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029968" y="44439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-0.5~+1.9%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2761488" y="44439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-0.45%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3529584" y="44439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✗偏差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669280" y="1371600"/>
            <a:ext cx="3200400" cy="1920240"/>
          </a:xfrm>
          <a:prstGeom prst="rect">
            <a:avLst>
              <a:gd name="adj" fmla="val 3810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06440" y="14447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综合评分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492240" y="1664208"/>
            <a:ext cx="1188720" cy="1188720"/>
          </a:xfrm>
          <a:prstGeom prst="ellipse">
            <a:avLst/>
          </a:prstGeom>
          <a:solidFill>
            <a:srgbClr val="1A1E28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92240" y="201168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2400" dirty="0"/>
          </a:p>
        </p:txBody>
      </p:sp>
      <p:sp>
        <p:nvSpPr>
          <p:cNvPr id="72" name="Text 70"/>
          <p:cNvSpPr/>
          <p:nvPr/>
        </p:nvSpPr>
        <p:spPr>
          <a:xfrm>
            <a:off x="6400800" y="29443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偏多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6035040" y="32461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参考：关注买入机会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742432" y="35478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基本面（代理）</a:t>
            </a:r>
            <a:endParaRPr lang="en-US" sz="800" dirty="0"/>
          </a:p>
        </p:txBody>
      </p:sp>
      <p:sp>
        <p:nvSpPr>
          <p:cNvPr id="75" name="Text 73"/>
          <p:cNvSpPr/>
          <p:nvPr/>
        </p:nvSpPr>
        <p:spPr>
          <a:xfrm>
            <a:off x="7543800" y="354787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742432" y="3749040"/>
            <a:ext cx="3017520" cy="64008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5742432" y="3749040"/>
            <a:ext cx="226314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742432" y="389534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技术面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7543800" y="3895344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742432" y="4096512"/>
            <a:ext cx="3017520" cy="64008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742432" y="4096512"/>
            <a:ext cx="2082089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5742432" y="424281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资金流向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7543800" y="4242816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5742432" y="4443984"/>
            <a:ext cx="3017520" cy="64008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5742432" y="4443984"/>
            <a:ext cx="2232965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742432" y="459028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市场情绪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7543800" y="4590288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5742432" y="4791456"/>
            <a:ext cx="3017520" cy="64008"/>
          </a:xfrm>
          <a:prstGeom prst="rect">
            <a:avLst/>
          </a:prstGeom>
          <a:solidFill>
            <a:srgbClr val="252936"/>
          </a:solidFill>
          <a:ln w="12700">
            <a:solidFill>
              <a:srgbClr val="25293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5742432" y="4791456"/>
            <a:ext cx="2051914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5669280" y="3383280"/>
            <a:ext cx="3200400" cy="1417320"/>
          </a:xfrm>
          <a:prstGeom prst="rect">
            <a:avLst>
              <a:gd name="adj" fmla="val 5161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5760720" y="34564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800" dirty="0"/>
          </a:p>
        </p:txBody>
      </p:sp>
      <p:sp>
        <p:nvSpPr>
          <p:cNvPr id="92" name="Text 90"/>
          <p:cNvSpPr/>
          <p:nvPr/>
        </p:nvSpPr>
        <p:spPr>
          <a:xfrm>
            <a:off x="5760720" y="3931920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T+1上涨概率（随机基准50%）</a:t>
            </a:r>
            <a:endParaRPr lang="en-US" sz="800" dirty="0"/>
          </a:p>
        </p:txBody>
      </p:sp>
      <p:sp>
        <p:nvSpPr>
          <p:cNvPr id="93" name="Shape 91"/>
          <p:cNvSpPr/>
          <p:nvPr/>
        </p:nvSpPr>
        <p:spPr>
          <a:xfrm>
            <a:off x="5760720" y="4160520"/>
            <a:ext cx="2743200" cy="0"/>
          </a:xfrm>
          <a:prstGeom prst="line">
            <a:avLst/>
          </a:prstGeom>
          <a:noFill/>
          <a:ln w="5080">
            <a:solidFill>
              <a:srgbClr val="252936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760720" y="420624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T+3预测区间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5760720" y="43891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+1.0%~+3.2%</a:t>
            </a:r>
            <a:endParaRPr lang="en-US" sz="1000" dirty="0"/>
          </a:p>
        </p:txBody>
      </p:sp>
      <p:sp>
        <p:nvSpPr>
          <p:cNvPr id="96" name="Text 94"/>
          <p:cNvSpPr/>
          <p:nvPr/>
        </p:nvSpPr>
        <p:spPr>
          <a:xfrm>
            <a:off x="7132320" y="420624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信号强度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132320" y="438912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★★★★☆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4"/>
          </a:solidFill>
          <a:ln w="12700">
            <a:solidFill>
              <a:srgbClr val="0D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预测准确率页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路由：/accuracy | V1.1新增个股历史预测准确率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2700">
            <a:solidFill>
              <a:srgbClr val="252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2011680" cy="777240"/>
          </a:xfrm>
          <a:prstGeom prst="rect">
            <a:avLst>
              <a:gd name="adj" fmla="val 9412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698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总体准确率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261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6276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超基准+4%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96312" y="1005840"/>
            <a:ext cx="2011680" cy="777240"/>
          </a:xfrm>
          <a:prstGeom prst="rect">
            <a:avLst>
              <a:gd name="adj" fmla="val 9412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10698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随机基准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87752" y="1261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587752" y="16276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参照值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18304" y="1005840"/>
            <a:ext cx="2011680" cy="777240"/>
          </a:xfrm>
          <a:prstGeom prst="rect">
            <a:avLst>
              <a:gd name="adj" fmla="val 9412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0698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 准确率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9744" y="1261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809744" y="16276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124条样本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940296" y="1005840"/>
            <a:ext cx="2011680" cy="777240"/>
          </a:xfrm>
          <a:prstGeom prst="rect">
            <a:avLst>
              <a:gd name="adj" fmla="val 9412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31736" y="10698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 准确率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31736" y="1261872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031736" y="162763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118条样本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74320" y="1901952"/>
            <a:ext cx="2331720" cy="2423160"/>
          </a:xfrm>
          <a:prstGeom prst="rect">
            <a:avLst>
              <a:gd name="adj" fmla="val 3137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19659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综合准确率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219456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累计242条 · 131条准确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" y="2423160"/>
            <a:ext cx="1371600" cy="1371600"/>
          </a:xfrm>
          <a:prstGeom prst="ellipse">
            <a:avLst/>
          </a:prstGeom>
          <a:solidFill>
            <a:srgbClr val="1A1E28"/>
          </a:solidFill>
          <a:ln w="381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2880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388620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超越基准 +4%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1005840" cy="411480"/>
          </a:xfrm>
          <a:prstGeom prst="rect">
            <a:avLst>
              <a:gd name="adj" fmla="val 17778"/>
            </a:avLst>
          </a:prstGeom>
          <a:solidFill>
            <a:srgbClr val="1A1E28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1970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65760" y="43708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53%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463040" y="4160520"/>
            <a:ext cx="1005840" cy="411480"/>
          </a:xfrm>
          <a:prstGeom prst="rect">
            <a:avLst>
              <a:gd name="adj" fmla="val 17778"/>
            </a:avLst>
          </a:prstGeom>
          <a:solidFill>
            <a:srgbClr val="1A1E28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4197096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1463040" y="4370832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2788920" y="1901952"/>
            <a:ext cx="3474720" cy="2423160"/>
          </a:xfrm>
          <a:prstGeom prst="rect">
            <a:avLst>
              <a:gd name="adj" fmla="val 3019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07792" y="19659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月度准确率趋势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907792" y="2194560"/>
            <a:ext cx="3108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绿≥55% 黄50-55% 红&lt;50% 虚线=50%基准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2926080" y="3972154"/>
            <a:ext cx="457200" cy="234086"/>
          </a:xfrm>
          <a:prstGeom prst="rect">
            <a:avLst>
              <a:gd name="adj" fmla="val 11719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07792" y="425196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10月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2907792" y="3807562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48%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474720" y="3855110"/>
            <a:ext cx="457200" cy="351130"/>
          </a:xfrm>
          <a:prstGeom prst="rect">
            <a:avLst>
              <a:gd name="adj" fmla="val 781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56432" y="425196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11月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456432" y="3690518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52%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4023360" y="3738067"/>
            <a:ext cx="457200" cy="468173"/>
          </a:xfrm>
          <a:prstGeom prst="rect">
            <a:avLst>
              <a:gd name="adj" fmla="val 6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05072" y="425196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12月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005072" y="3573475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56%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572000" y="3884371"/>
            <a:ext cx="457200" cy="321869"/>
          </a:xfrm>
          <a:prstGeom prst="rect">
            <a:avLst>
              <a:gd name="adj" fmla="val 852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53712" y="425196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1月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4553712" y="3719779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5120640" y="3767328"/>
            <a:ext cx="457200" cy="438912"/>
          </a:xfrm>
          <a:prstGeom prst="rect">
            <a:avLst>
              <a:gd name="adj" fmla="val 625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02352" y="425196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2月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102352" y="3602736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5669280" y="3796589"/>
            <a:ext cx="457200" cy="409651"/>
          </a:xfrm>
          <a:prstGeom prst="rect">
            <a:avLst>
              <a:gd name="adj" fmla="val 669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50992" y="4251960"/>
            <a:ext cx="4937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3月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650992" y="3631997"/>
            <a:ext cx="4937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54%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2926080" y="3840480"/>
            <a:ext cx="3108960" cy="0"/>
          </a:xfrm>
          <a:prstGeom prst="line">
            <a:avLst/>
          </a:prstGeom>
          <a:noFill/>
          <a:ln w="6350">
            <a:solidFill>
              <a:srgbClr val="64748B"/>
            </a:solidFill>
            <a:prstDash val="dash"/>
          </a:ln>
        </p:spPr>
      </p:sp>
      <p:sp>
        <p:nvSpPr>
          <p:cNvPr id="56" name="Text 54"/>
          <p:cNvSpPr/>
          <p:nvPr/>
        </p:nvSpPr>
        <p:spPr>
          <a:xfrm>
            <a:off x="6035040" y="3794760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6446520" y="1901952"/>
            <a:ext cx="2423160" cy="2423160"/>
          </a:xfrm>
          <a:prstGeom prst="rect">
            <a:avLst>
              <a:gd name="adj" fmla="val 3019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65392" y="196596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个股准确率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6565392" y="219456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V1.1新增 · 点击展开明细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492240" y="2404872"/>
            <a:ext cx="2286000" cy="0"/>
          </a:xfrm>
          <a:prstGeom prst="line">
            <a:avLst/>
          </a:prstGeom>
          <a:noFill/>
          <a:ln w="3810">
            <a:solidFill>
              <a:srgbClr val="25293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92240" y="2450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股票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040880" y="2450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T+1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589520" y="2450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T+3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8138160" y="2450592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超基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492240" y="268833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贵州茅台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7040880" y="268833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7589520" y="268833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8138160" y="268833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6492240" y="2980944"/>
            <a:ext cx="2286000" cy="0"/>
          </a:xfrm>
          <a:prstGeom prst="line">
            <a:avLst/>
          </a:prstGeom>
          <a:noFill/>
          <a:ln w="3810">
            <a:solidFill>
              <a:srgbClr val="25293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492240" y="309981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宁德时代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7040880" y="309981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589520" y="309981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8138160" y="309981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392424"/>
            <a:ext cx="2286000" cy="0"/>
          </a:xfrm>
          <a:prstGeom prst="line">
            <a:avLst/>
          </a:prstGeom>
          <a:noFill/>
          <a:ln w="3810">
            <a:solidFill>
              <a:srgbClr val="25293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92240" y="3511296"/>
            <a:ext cx="1188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平安银行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040880" y="351129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67%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7589520" y="351129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8138160" y="3511296"/>
            <a:ext cx="502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+11%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74320" y="4370832"/>
            <a:ext cx="8595360" cy="502920"/>
          </a:xfrm>
          <a:prstGeom prst="rect">
            <a:avLst>
              <a:gd name="adj" fmla="val 14545"/>
            </a:avLst>
          </a:prstGeom>
          <a:solidFill>
            <a:srgbClr val="1A1E28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1148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说明：随机猜涨跌期望约50%，模型持续超越该基准代表有效。数据积累越多越可信。所有预测仅供参考，不构成投资建议。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4"/>
          </a:solidFill>
          <a:ln w="12700">
            <a:solidFill>
              <a:srgbClr val="0D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 / 注册页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路由：/login | 未登录时自动跳转此页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2700">
            <a:solidFill>
              <a:srgbClr val="25293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26080" y="1005840"/>
            <a:ext cx="3291840" cy="3474720"/>
          </a:xfrm>
          <a:prstGeom prst="rect">
            <a:avLst>
              <a:gd name="adj" fmla="val 2222"/>
            </a:avLst>
          </a:prstGeom>
          <a:solidFill>
            <a:srgbClr val="13161E"/>
          </a:solidFill>
          <a:ln w="6350">
            <a:solidFill>
              <a:srgbClr val="25293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1188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AI投资助手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017520" y="175564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量化辅助决策，让投资有据可依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08960" y="2121408"/>
            <a:ext cx="2926080" cy="329184"/>
          </a:xfrm>
          <a:prstGeom prst="rect">
            <a:avLst>
              <a:gd name="adj" fmla="val 16667"/>
            </a:avLst>
          </a:prstGeom>
          <a:solidFill>
            <a:srgbClr val="1A1E28"/>
          </a:solidFill>
          <a:ln w="12700">
            <a:solidFill>
              <a:srgbClr val="1A1E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45536" y="2148840"/>
            <a:ext cx="1417320" cy="274320"/>
          </a:xfrm>
          <a:prstGeom prst="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45536" y="217627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登录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0" y="2176272"/>
            <a:ext cx="14173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08960" y="2578608"/>
            <a:ext cx="2926080" cy="347472"/>
          </a:xfrm>
          <a:prstGeom prst="rect">
            <a:avLst>
              <a:gd name="adj" fmla="val 15789"/>
            </a:avLst>
          </a:prstGeom>
          <a:solidFill>
            <a:srgbClr val="1A1E28"/>
          </a:solidFill>
          <a:ln w="5080">
            <a:solidFill>
              <a:srgbClr val="2529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18688" y="26517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邮箱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08960" y="3054096"/>
            <a:ext cx="2926080" cy="347472"/>
          </a:xfrm>
          <a:prstGeom prst="rect">
            <a:avLst>
              <a:gd name="adj" fmla="val 15789"/>
            </a:avLst>
          </a:prstGeom>
          <a:solidFill>
            <a:srgbClr val="1A1E28"/>
          </a:solidFill>
          <a:ln w="5080">
            <a:solidFill>
              <a:srgbClr val="2529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3127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密码（密文显示）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3639312"/>
            <a:ext cx="2926080" cy="347472"/>
          </a:xfrm>
          <a:prstGeom prst="rect">
            <a:avLst>
              <a:gd name="adj" fmla="val 15789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08960" y="3666744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登 录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470916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所有预测仅供参考，不构成投资建议。股市有风险，投资需谨慎。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F14"/>
          </a:solidFill>
          <a:ln w="12700">
            <a:solidFill>
              <a:srgbClr val="0D0F1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设计规范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颜色系统 / 字体 / 组件规范 / 交互原则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8412480" cy="0"/>
          </a:xfrm>
          <a:prstGeom prst="line">
            <a:avLst/>
          </a:prstGeom>
          <a:noFill/>
          <a:ln w="12700">
            <a:solidFill>
              <a:srgbClr val="2529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颜色系统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371600" cy="292608"/>
          </a:xfrm>
          <a:prstGeom prst="rect">
            <a:avLst>
              <a:gd name="adj" fmla="val 12500"/>
            </a:avLst>
          </a:prstGeom>
          <a:solidFill>
            <a:srgbClr val="0D0F14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910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BG背景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11680" y="1280160"/>
            <a:ext cx="1371600" cy="292608"/>
          </a:xfrm>
          <a:prstGeom prst="rect">
            <a:avLst>
              <a:gd name="adj" fmla="val 12500"/>
            </a:avLst>
          </a:prstGeom>
          <a:solidFill>
            <a:srgbClr val="13161E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15910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卡片BG2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749040" y="1280160"/>
            <a:ext cx="1371600" cy="292608"/>
          </a:xfrm>
          <a:prstGeom prst="rect">
            <a:avLst>
              <a:gd name="adj" fmla="val 12500"/>
            </a:avLst>
          </a:prstGeom>
          <a:solidFill>
            <a:srgbClr val="1A1E28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5910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悬停BG3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486400" y="1280160"/>
            <a:ext cx="1371600" cy="292608"/>
          </a:xfrm>
          <a:prstGeom prst="rect">
            <a:avLst>
              <a:gd name="adj" fmla="val 12500"/>
            </a:avLst>
          </a:prstGeom>
          <a:solidFill>
            <a:srgbClr val="252936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0" y="15910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分割线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7223760" y="1280160"/>
            <a:ext cx="1371600" cy="292608"/>
          </a:xfrm>
          <a:prstGeom prst="rect">
            <a:avLst>
              <a:gd name="adj" fmla="val 12500"/>
            </a:avLst>
          </a:prstGeom>
          <a:solidFill>
            <a:srgbClr val="E2E8F0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23760" y="15910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主文字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1737360"/>
            <a:ext cx="1371600" cy="292608"/>
          </a:xfrm>
          <a:prstGeom prst="rect">
            <a:avLst>
              <a:gd name="adj" fmla="val 12500"/>
            </a:avLst>
          </a:prstGeom>
          <a:solidFill>
            <a:srgbClr val="64748B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0482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辅助文字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011680" y="1737360"/>
            <a:ext cx="1371600" cy="292608"/>
          </a:xfrm>
          <a:prstGeom prst="rect">
            <a:avLst>
              <a:gd name="adj" fmla="val 12500"/>
            </a:avLst>
          </a:prstGeom>
          <a:solidFill>
            <a:srgbClr val="22C55E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20482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上涨绿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49040" y="1737360"/>
            <a:ext cx="1371600" cy="292608"/>
          </a:xfrm>
          <a:prstGeom prst="rect">
            <a:avLst>
              <a:gd name="adj" fmla="val 12500"/>
            </a:avLst>
          </a:prstGeom>
          <a:solidFill>
            <a:srgbClr val="EF4444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0" y="20482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下跌红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0" y="1737360"/>
            <a:ext cx="1371600" cy="292608"/>
          </a:xfrm>
          <a:prstGeom prst="rect">
            <a:avLst>
              <a:gd name="adj" fmla="val 12500"/>
            </a:avLst>
          </a:prstGeom>
          <a:solidFill>
            <a:srgbClr val="F59E0B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0" y="20482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中性黄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7223760" y="1737360"/>
            <a:ext cx="1371600" cy="292608"/>
          </a:xfrm>
          <a:prstGeom prst="rect">
            <a:avLst>
              <a:gd name="adj" fmla="val 12500"/>
            </a:avLst>
          </a:prstGeom>
          <a:solidFill>
            <a:srgbClr val="6366F1"/>
          </a:solidFill>
          <a:ln w="3810">
            <a:solidFill>
              <a:srgbClr val="2529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2048256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强调色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2468880"/>
            <a:ext cx="8595360" cy="0"/>
          </a:xfrm>
          <a:prstGeom prst="line">
            <a:avLst/>
          </a:prstGeom>
          <a:noFill/>
          <a:ln w="6350">
            <a:solidFill>
              <a:srgbClr val="2529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254203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字体与文字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7432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标题 19-21px / Bold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246888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正文 13-14px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66344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辅助说明 11-12px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858000" y="28346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数字/价格 Mono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74320" y="3246120"/>
            <a:ext cx="8595360" cy="0"/>
          </a:xfrm>
          <a:prstGeom prst="line">
            <a:avLst/>
          </a:prstGeom>
          <a:noFill/>
          <a:ln w="6350">
            <a:solidFill>
              <a:srgbClr val="2529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319272"/>
            <a:ext cx="2743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组件与交互原则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3639312"/>
            <a:ext cx="402336" cy="402336"/>
          </a:xfrm>
          <a:prstGeom prst="ellipse">
            <a:avLst/>
          </a:prstGeom>
          <a:solidFill>
            <a:srgbClr val="1A1E28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3730752"/>
            <a:ext cx="402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68680" y="3639312"/>
            <a:ext cx="402336" cy="402336"/>
          </a:xfrm>
          <a:prstGeom prst="ellipse">
            <a:avLst/>
          </a:prstGeom>
          <a:solidFill>
            <a:srgbClr val="1A1E2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8680" y="3730752"/>
            <a:ext cx="402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463040" y="3639312"/>
            <a:ext cx="402336" cy="402336"/>
          </a:xfrm>
          <a:prstGeom prst="ellipse">
            <a:avLst/>
          </a:prstGeom>
          <a:solidFill>
            <a:srgbClr val="1A1E28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63040" y="3730752"/>
            <a:ext cx="40233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011680" y="371246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评分环 0-100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657600" y="37124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偏多★★★★☆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303520" y="37124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中性★★★☆☆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949440" y="3712464"/>
            <a:ext cx="1554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偏空★★★☆☆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229600" y="3657600"/>
            <a:ext cx="822960" cy="201168"/>
          </a:xfrm>
          <a:prstGeom prst="rect">
            <a:avLst>
              <a:gd name="adj" fmla="val 18182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229600" y="367588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A股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8229600" y="3931920"/>
            <a:ext cx="822960" cy="201168"/>
          </a:xfrm>
          <a:prstGeom prst="rect">
            <a:avLst>
              <a:gd name="adj" fmla="val 1818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29600" y="3950208"/>
            <a:ext cx="822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港股通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" y="427939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删除组合 / 移除股票：弹确认对话框，防止误操作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74320" y="4443984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所有 API 失败：展示具体错误文字，不静默失败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74320" y="460857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加载中状态：显示文字「加载中...」，禁用相关按钮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274320" y="4773168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弹窗背景点击：关闭弹窗并重置表单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</a:t>
            </a:r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按 Enter 键：确认输入框提交（新建组合/搜索）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AI投资助手 设计文档 V1.1</dc:title>
  <dc:subject>PptxGenJS Presentation</dc:subject>
  <dc:creator>PptxGenJS</dc:creator>
  <cp:lastModifiedBy>PptxGenJS</cp:lastModifiedBy>
  <cp:revision>1</cp:revision>
  <dcterms:created xsi:type="dcterms:W3CDTF">2026-03-30T07:40:08Z</dcterms:created>
  <dcterms:modified xsi:type="dcterms:W3CDTF">2026-03-30T07:40:08Z</dcterms:modified>
</cp:coreProperties>
</file>